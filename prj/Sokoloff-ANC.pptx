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54DFECB0-98EC-4FCF-930E-72083C000704}">
  <a:tblStyle styleId="{54DFECB0-98EC-4FCF-930E-72083C000704}" styleName="Table_0">
    <a:wholeTbl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11" name="Shape 11"/>
          <p:cNvCxnSpPr/>
          <p:nvPr/>
        </p:nvCxnSpPr>
        <p:spPr>
          <a:xfrm>
            <a:off x="641934" y="3597500"/>
            <a:ext cx="390299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Shape 1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hape 16"/>
          <p:cNvCxnSpPr/>
          <p:nvPr/>
        </p:nvCxnSpPr>
        <p:spPr>
          <a:xfrm>
            <a:off x="641934" y="3597500"/>
            <a:ext cx="390299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" name="Shape 17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7" name="Shape 27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4" name="Shape 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41" name="Shape 41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Shape 42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buClr>
                <a:schemeClr val="lt2"/>
              </a:buClr>
              <a:buSzPct val="100000"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" type="subTitle"/>
          </p:nvPr>
        </p:nvSpPr>
        <p:spPr>
          <a:xfrm>
            <a:off x="265500" y="2769000"/>
            <a:ext cx="4045200" cy="13455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b="1" sz="14000"/>
            </a:lvl1pPr>
            <a:lvl2pPr lvl="1" algn="ctr">
              <a:spcBef>
                <a:spcPts val="0"/>
              </a:spcBef>
              <a:buSzPct val="100000"/>
              <a:defRPr b="1" sz="14000"/>
            </a:lvl2pPr>
            <a:lvl3pPr lvl="2" algn="ctr">
              <a:spcBef>
                <a:spcPts val="0"/>
              </a:spcBef>
              <a:buSzPct val="100000"/>
              <a:defRPr b="1" sz="14000"/>
            </a:lvl3pPr>
            <a:lvl4pPr lvl="3" algn="ctr">
              <a:spcBef>
                <a:spcPts val="0"/>
              </a:spcBef>
              <a:buSzPct val="100000"/>
              <a:defRPr b="1" sz="14000"/>
            </a:lvl4pPr>
            <a:lvl5pPr lvl="4" algn="ctr">
              <a:spcBef>
                <a:spcPts val="0"/>
              </a:spcBef>
              <a:buSzPct val="100000"/>
              <a:defRPr b="1" sz="14000"/>
            </a:lvl5pPr>
            <a:lvl6pPr lvl="5" algn="ctr">
              <a:spcBef>
                <a:spcPts val="0"/>
              </a:spcBef>
              <a:buSzPct val="100000"/>
              <a:defRPr b="1" sz="14000"/>
            </a:lvl6pPr>
            <a:lvl7pPr lvl="6" algn="ctr">
              <a:spcBef>
                <a:spcPts val="0"/>
              </a:spcBef>
              <a:buSzPct val="100000"/>
              <a:defRPr b="1" sz="14000"/>
            </a:lvl7pPr>
            <a:lvl8pPr lvl="7" algn="ctr">
              <a:spcBef>
                <a:spcPts val="0"/>
              </a:spcBef>
              <a:buSzPct val="100000"/>
              <a:defRPr b="1" sz="14000"/>
            </a:lvl8pPr>
            <a:lvl9pPr lvl="8" algn="ctr">
              <a:spcBef>
                <a:spcPts val="0"/>
              </a:spcBef>
              <a:buSzPct val="100000"/>
              <a:defRPr b="1" sz="14000"/>
            </a:lvl9pPr>
          </a:lstStyle>
          <a:p/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Old Standard TT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Old Standard TT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Relationship Id="rId4" Type="http://schemas.openxmlformats.org/officeDocument/2006/relationships/image" Target="../media/image4.gif"/><Relationship Id="rId5" Type="http://schemas.openxmlformats.org/officeDocument/2006/relationships/image" Target="../media/image7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sokoloff1/Adaptive-Communication" TargetMode="External"/><Relationship Id="rId4" Type="http://schemas.openxmlformats.org/officeDocument/2006/relationships/hyperlink" Target="https://github.com/msokoloff1/Adversarial-Neural-Cryptography" TargetMode="External"/><Relationship Id="rId5" Type="http://schemas.openxmlformats.org/officeDocument/2006/relationships/hyperlink" Target="https://github.com/msokoloff1/ANN-Public-Key-Cryptograph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Adversarial Neural Cryptography</a:t>
            </a:r>
          </a:p>
        </p:txBody>
      </p:sp>
      <p:sp>
        <p:nvSpPr>
          <p:cNvPr id="60" name="Shape 60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Matt Sokoloff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Background</a:t>
            </a:r>
          </a:p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80550" y="1171600"/>
            <a:ext cx="7044300" cy="3397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Based on a Google Brain paper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Used neural networks to learn how to protect communications. </a:t>
            </a:r>
          </a:p>
          <a:p>
            <a:pPr indent="-228600" lvl="2" marL="1371600" rtl="0">
              <a:spcBef>
                <a:spcPts val="0"/>
              </a:spcBef>
            </a:pPr>
            <a:r>
              <a:rPr lang="en"/>
              <a:t>There is a </a:t>
            </a:r>
            <a:r>
              <a:rPr lang="en"/>
              <a:t>separate</a:t>
            </a:r>
            <a:r>
              <a:rPr lang="en"/>
              <a:t> neural network for each of the following tasks:</a:t>
            </a:r>
          </a:p>
          <a:p>
            <a:pPr indent="-228600" lvl="3" marL="1828800" rtl="0">
              <a:spcBef>
                <a:spcPts val="0"/>
              </a:spcBef>
            </a:pPr>
            <a:r>
              <a:rPr lang="en"/>
              <a:t>Encoding the data</a:t>
            </a:r>
          </a:p>
          <a:p>
            <a:pPr indent="-228600" lvl="3" marL="1828800" rtl="0">
              <a:spcBef>
                <a:spcPts val="0"/>
              </a:spcBef>
            </a:pPr>
            <a:r>
              <a:rPr lang="en"/>
              <a:t>Decoding the data</a:t>
            </a:r>
          </a:p>
          <a:p>
            <a:pPr indent="-228600" lvl="3" marL="1828800" rtl="0">
              <a:spcBef>
                <a:spcPts val="0"/>
              </a:spcBef>
            </a:pPr>
            <a:r>
              <a:rPr lang="en"/>
              <a:t>Simulate an unauthorized party attempting to decode the data</a:t>
            </a:r>
          </a:p>
          <a:p>
            <a:pPr indent="-228600" lvl="1" marL="914400" rtl="0">
              <a:lnSpc>
                <a:spcPct val="150000"/>
              </a:lnSpc>
              <a:spcBef>
                <a:spcPts val="0"/>
              </a:spcBef>
            </a:pPr>
            <a:r>
              <a:rPr lang="en"/>
              <a:t>Concept derived from generative adversarial networks (GANs).</a:t>
            </a:r>
          </a:p>
          <a:p>
            <a:pPr indent="-228600" lvl="2" marL="1371600" rtl="0">
              <a:lnSpc>
                <a:spcPct val="100000"/>
              </a:lnSpc>
              <a:spcBef>
                <a:spcPts val="0"/>
              </a:spcBef>
            </a:pPr>
            <a:r>
              <a:rPr lang="en"/>
              <a:t>All three parties improve at the same time. Otherwise convergence is impossible</a:t>
            </a:r>
          </a:p>
          <a:p>
            <a:pPr indent="-228600" lvl="2" marL="1371600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"/>
              <a:t>These models are notorious for unstable convergence properties (non-convex loss). 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The goal was to recreate the paper and search for improvements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67" name="Shape 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4747" y="587772"/>
            <a:ext cx="2416700" cy="11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Shape 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4850" y="1705004"/>
            <a:ext cx="1840548" cy="143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Shape 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74839" y="3140625"/>
            <a:ext cx="1840550" cy="115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Architecture Overview (Initial key exchange)</a:t>
            </a:r>
          </a:p>
        </p:txBody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197850" y="1017725"/>
            <a:ext cx="4637400" cy="38979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spcAft>
                <a:spcPts val="1000"/>
              </a:spcAft>
            </a:pPr>
            <a:r>
              <a:rPr lang="en"/>
              <a:t>Tree parity machine to </a:t>
            </a:r>
            <a:r>
              <a:rPr lang="en"/>
              <a:t>exchange</a:t>
            </a:r>
            <a:r>
              <a:rPr lang="en"/>
              <a:t> key over public channel. Discrete neural networks. </a:t>
            </a:r>
          </a:p>
          <a:p>
            <a:pPr indent="-228600" lvl="0" marL="457200" rtl="0">
              <a:spcBef>
                <a:spcPts val="0"/>
              </a:spcBef>
              <a:spcAft>
                <a:spcPts val="1000"/>
              </a:spcAft>
            </a:pPr>
            <a:r>
              <a:rPr lang="en"/>
              <a:t>Communicating parties have an advantage because they can influence each other (random walk). Third party can only listen.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Man in the middle will set off alarm. Convergence expected after ~500 iterations.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Inputs and outputs are transmitted over the network.</a:t>
            </a:r>
          </a:p>
        </p:txBody>
      </p:sp>
      <p:pic>
        <p:nvPicPr>
          <p:cNvPr id="76" name="Shape 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151" y="1569501"/>
            <a:ext cx="3708900" cy="299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type="title"/>
          </p:nvPr>
        </p:nvSpPr>
        <p:spPr>
          <a:xfrm>
            <a:off x="758400" y="191025"/>
            <a:ext cx="47157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Architecture Overview (Adversarial Training)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82" name="Shape 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967" y="0"/>
            <a:ext cx="60249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Shape 83"/>
          <p:cNvSpPr txBox="1"/>
          <p:nvPr/>
        </p:nvSpPr>
        <p:spPr>
          <a:xfrm>
            <a:off x="201450" y="1331300"/>
            <a:ext cx="2724000" cy="3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●"/>
            </a:pPr>
            <a:r>
              <a:rPr lang="en"/>
              <a:t>Encoder and Decoder attempt to maximize reconstruction between each other and minimize the unauthorized reconstruction.</a:t>
            </a:r>
          </a:p>
          <a:p>
            <a:pPr indent="-228600" lvl="0" marL="457200" rtl="0">
              <a:spcBef>
                <a:spcPts val="0"/>
              </a:spcBef>
              <a:buChar char="●"/>
            </a:pPr>
            <a:r>
              <a:rPr lang="en"/>
              <a:t>After training for about 5000 iterations, the unauthorized decoder can no longer break the encryption. This is true even when the encoder and decoder models stop training.</a:t>
            </a:r>
          </a:p>
          <a:p>
            <a:pPr indent="-228600" lvl="0" marL="457200">
              <a:spcBef>
                <a:spcPts val="0"/>
              </a:spcBef>
              <a:buChar char="●"/>
            </a:pPr>
            <a:r>
              <a:rPr lang="en"/>
              <a:t>Input seed is public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x="241625" y="3136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Network Architectures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241625" y="11262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</a:pPr>
            <a:r>
              <a:rPr lang="en" sz="1400"/>
              <a:t>All Networks had the same configuration except for the input.</a:t>
            </a: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</a:pPr>
            <a:r>
              <a:rPr lang="en" sz="1400"/>
              <a:t>Tree parity machines had 100 branches (K) each with 32 nodes (N) and an absolute </a:t>
            </a:r>
            <a:r>
              <a:rPr lang="en" sz="1400"/>
              <a:t>maximum</a:t>
            </a:r>
            <a:r>
              <a:rPr lang="en" sz="1400"/>
              <a:t> value of 10.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rPr lang="en"/>
              <a:t> </a:t>
            </a:r>
          </a:p>
        </p:txBody>
      </p:sp>
      <p:graphicFrame>
        <p:nvGraphicFramePr>
          <p:cNvPr id="90" name="Shape 90"/>
          <p:cNvGraphicFramePr/>
          <p:nvPr/>
        </p:nvGraphicFramePr>
        <p:xfrm>
          <a:off x="304362" y="226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{54DFECB0-98EC-4FCF-930E-72083C000704}</a:tableStyleId>
              </a:tblPr>
              <a:tblGrid>
                <a:gridCol w="1490150"/>
                <a:gridCol w="7045125"/>
              </a:tblGrid>
              <a:tr h="544875"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Layer1</a:t>
                      </a:r>
                    </a:p>
                  </a:txBody>
                  <a:tcPr marT="19050" marB="19050" marR="28575" marL="285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Fully connected, same number of input nodes as output nodes (message length + tree parity key length) , sigmoid activation</a:t>
                      </a:r>
                    </a:p>
                  </a:txBody>
                  <a:tcPr marT="19050" marB="19050" marR="28575" marL="28575" anchor="ctr"/>
                </a:tc>
              </a:tr>
              <a:tr h="389200"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Layer2</a:t>
                      </a:r>
                    </a:p>
                  </a:txBody>
                  <a:tcPr marT="19050" marB="19050" marR="28575" marL="285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convolutional, 2 output channels, filter width of 2, stride of 1, sigmoid activation</a:t>
                      </a:r>
                    </a:p>
                  </a:txBody>
                  <a:tcPr marT="19050" marB="19050" marR="28575" marL="28575" anchor="ctr"/>
                </a:tc>
              </a:tr>
              <a:tr h="389200"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Layer3</a:t>
                      </a:r>
                    </a:p>
                  </a:txBody>
                  <a:tcPr marT="19050" marB="19050" marR="28575" marL="285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convolutional, 4 output channels, filter width of 2, stride of 2, sigmoid activation</a:t>
                      </a:r>
                    </a:p>
                  </a:txBody>
                  <a:tcPr marT="19050" marB="19050" marR="28575" marL="28575" anchor="ctr"/>
                </a:tc>
              </a:tr>
              <a:tr h="389200"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Layer4</a:t>
                      </a:r>
                    </a:p>
                  </a:txBody>
                  <a:tcPr marT="19050" marB="19050" marR="28575" marL="285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convolutional, 4 output channels, filter width of 1, stride of 1, sigmoid activation</a:t>
                      </a:r>
                    </a:p>
                  </a:txBody>
                  <a:tcPr marT="19050" marB="19050" marR="28575" marL="28575" anchor="ctr"/>
                </a:tc>
              </a:tr>
              <a:tr h="389200"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Layer5</a:t>
                      </a:r>
                    </a:p>
                  </a:txBody>
                  <a:tcPr marT="19050" marB="19050" marR="28575" marL="285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convolutional, 1 output channel, filter width of 1, stride of 1, hyperbolic tangent activation</a:t>
                      </a:r>
                    </a:p>
                  </a:txBody>
                  <a:tcPr marT="19050" marB="19050" marR="28575" marL="28575" anchor="ctr"/>
                </a:tc>
              </a:tr>
              <a:tr h="389200"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MappingLayer</a:t>
                      </a:r>
                    </a:p>
                  </a:txBody>
                  <a:tcPr marT="19050" marB="19050" marR="28575" marL="285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/>
                        <a:t>Normalizes output between 0 and 1</a:t>
                      </a: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Loss Function/Update</a:t>
            </a:r>
          </a:p>
        </p:txBody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Tree Parity Machine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Hebbian Update </a:t>
            </a:r>
          </a:p>
          <a:p>
            <a:pPr indent="-228600" lvl="2" marL="1371600" rtl="0">
              <a:spcBef>
                <a:spcPts val="0"/>
              </a:spcBef>
            </a:pPr>
            <a:r>
              <a:t/>
            </a:r>
            <a:endParaRPr/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Neural Networks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Loss</a:t>
            </a:r>
          </a:p>
          <a:p>
            <a:pPr indent="-228600" lvl="2" marL="1371600" rtl="0">
              <a:spcBef>
                <a:spcPts val="0"/>
              </a:spcBef>
              <a:spcAft>
                <a:spcPts val="1000"/>
              </a:spcAft>
            </a:pPr>
            <a:r>
              <a:rPr lang="en"/>
              <a:t>Encoder (a)/Decoder(b). </a:t>
            </a:r>
          </a:p>
          <a:p>
            <a:pPr indent="-228600" lvl="3" marL="1828800" rtl="0">
              <a:spcBef>
                <a:spcPts val="0"/>
              </a:spcBef>
              <a:spcAft>
                <a:spcPts val="1000"/>
              </a:spcAft>
            </a:pPr>
            <a:r>
              <a:t/>
            </a:r>
            <a:endParaRPr/>
          </a:p>
          <a:p>
            <a:pPr indent="-228600" lvl="2" marL="1371600" rtl="0">
              <a:spcBef>
                <a:spcPts val="0"/>
              </a:spcBef>
            </a:pPr>
            <a:r>
              <a:rPr lang="en"/>
              <a:t>Unauthorized Decoder(e):</a:t>
            </a:r>
          </a:p>
          <a:p>
            <a:pPr indent="-228600" lvl="3" marL="1828800" rtl="0">
              <a:spcBef>
                <a:spcPts val="1000"/>
              </a:spcBef>
            </a:pPr>
            <a:r>
              <a:t/>
            </a:r>
            <a:endParaRPr/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Minimize Loss using gradient descent.</a:t>
            </a:r>
          </a:p>
          <a:p>
            <a:pPr indent="-228600" lvl="2" marL="1371600" rtl="0">
              <a:spcBef>
                <a:spcPts val="0"/>
              </a:spcBef>
            </a:pPr>
            <a:r>
              <a:rPr lang="en"/>
              <a:t>Adam (Adaptive Moment Estimation) optimizer used to improve convergence properties.</a:t>
            </a:r>
          </a:p>
          <a:p>
            <a:pPr indent="-228600" lvl="3" marL="1828800" rtl="0">
              <a:spcBef>
                <a:spcPts val="0"/>
              </a:spcBef>
            </a:pPr>
            <a:r>
              <a:rPr lang="en"/>
              <a:t>Essentially adjusts momentum and learning rate for each weight’s gradient.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97" name="Shape 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550" y="1804650"/>
            <a:ext cx="2904349" cy="2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Shape 98" title="cap l o s s sub e  equals   n equals 1 under and cap n over n ary summation  vertical line o u t p u t sub e  minus c o r r e c t vertical line over cap n  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8250" y="3670250"/>
            <a:ext cx="2536499" cy="41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Shape 99" title="cap l o s s sub b  equals cap l o s s sub A  equals   n equals 1 under and cap n over n ary summation  vertical line o u t p u t sub b  minus c o r r e c t vertical line over cap n   plus   left parenthesis   m e s s A g e cap l e n over 2   minus cap l o s s sub e  right parenthesis squared  over left parenthesis   m e s s A g e cap l e n over 2   right parenthesis squared   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8250" y="2845675"/>
            <a:ext cx="4886924" cy="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Training (continued)</a:t>
            </a:r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530675" y="1266350"/>
            <a:ext cx="64323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The procedure for applying the updates previously applied are as follows: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First we completely train the tree parity machines. We restart if convergence is not achieved within 500 iterations to prevent man in the middle attacks.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To challenge the encoder/decoder networks, we train the unauthorized decoder twice for every update of the encoder/decoder.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The key changes for every single example and is a random sample of the tree parity machine weights.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After about 10000 iterations, we only train the unauthorized decoder to see if it can break the encryption.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Results</a:t>
            </a:r>
          </a:p>
        </p:txBody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148925" y="1494075"/>
            <a:ext cx="24963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17500" lvl="0" marL="457200" rtl="0"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en" sz="1400"/>
              <a:t>Convergence </a:t>
            </a:r>
            <a:r>
              <a:rPr lang="en" sz="1400"/>
              <a:t>occurred</a:t>
            </a:r>
            <a:r>
              <a:rPr lang="en" sz="1400"/>
              <a:t> majority of the time.</a:t>
            </a:r>
          </a:p>
          <a:p>
            <a:pPr indent="-317500" lvl="0" marL="457200" rtl="0">
              <a:spcBef>
                <a:spcPts val="0"/>
              </a:spcBef>
              <a:buSzPct val="100000"/>
            </a:pPr>
            <a:r>
              <a:rPr lang="en" sz="1400"/>
              <a:t>Whenever convergence </a:t>
            </a:r>
            <a:r>
              <a:rPr lang="en" sz="1400"/>
              <a:t>occurred</a:t>
            </a:r>
            <a:r>
              <a:rPr lang="en" sz="1400"/>
              <a:t> eve never broke the encryption regardless of how much time was given.</a:t>
            </a:r>
          </a:p>
          <a:p>
            <a:pPr indent="-317500" lvl="0" marL="457200">
              <a:spcBef>
                <a:spcPts val="0"/>
              </a:spcBef>
              <a:buSzPct val="100000"/>
            </a:pPr>
            <a:r>
              <a:rPr lang="en" sz="1400"/>
              <a:t>Architecture alternations had a minor effect on performance.</a:t>
            </a:r>
          </a:p>
        </p:txBody>
      </p:sp>
      <p:pic>
        <p:nvPicPr>
          <p:cNvPr id="112" name="Shape 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225" y="872475"/>
            <a:ext cx="6498776" cy="38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Vulnerabilities</a:t>
            </a:r>
          </a:p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311700" y="1171600"/>
            <a:ext cx="8595900" cy="3397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>
              <a:spcBef>
                <a:spcPts val="0"/>
              </a:spcBef>
              <a:spcAft>
                <a:spcPts val="1000"/>
              </a:spcAft>
            </a:pPr>
            <a:r>
              <a:rPr lang="en"/>
              <a:t>Tree parity machine can be compromised by an adversary with enough computing power and memory. Though this requires exponentially more for each node. We tested a geometric attack (most effective single node attack) and it fails to get enough of the key to be significant. Swarm attacks work but they require a close enough random initialization to work (enough guesses will work).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The idea is similar to the random walk of the tree parity machines. Since the attacker occasionally breaks the encryption, it is entirely possible that a swarm of adversaries (with enough computing resources) could break the encryption.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Conclusion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We have created the first method that uses purely neural networks to securely communicate over a public channel.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Training time is approximately 30 </a:t>
            </a:r>
            <a:r>
              <a:rPr lang="en"/>
              <a:t>minutes when training occurs within one machine. Our expectation is that this would be significantly longer of a network. 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Once the networks have been trained, encryption/decryption time is short enough for practical applications (&lt;&lt;1 second).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Going forward, applying newly discovered methods for stabilizing GANs is probably the best way to guarantee convergence.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Repositories: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https://github.com/msokoloff1/Adaptive-Communication</a:t>
            </a:r>
            <a:r>
              <a:rPr lang="en"/>
              <a:t> : Final code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https://github.com/msokoloff1/Adversarial-Neural-Cryptography</a:t>
            </a:r>
            <a:r>
              <a:rPr lang="en"/>
              <a:t> : Exploring the original paper</a:t>
            </a:r>
          </a:p>
          <a:p>
            <a:pPr indent="-228600" lvl="1" marL="914400">
              <a:spcBef>
                <a:spcPts val="0"/>
              </a:spcBef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https://github.com/msokoloff1/ANN-Public-Key-Cryptography</a:t>
            </a:r>
            <a:r>
              <a:rPr lang="en"/>
              <a:t> : Tree parity machine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